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Inter Light"/>
      <p:regular r:id="rId20"/>
      <p:bold r:id="rId21"/>
      <p:italic r:id="rId22"/>
      <p:boldItalic r:id="rId23"/>
    </p:embeddedFont>
    <p:embeddedFont>
      <p:font typeface="Inter SemiBold"/>
      <p:regular r:id="rId24"/>
      <p:bold r:id="rId25"/>
      <p:italic r:id="rId26"/>
      <p:boldItalic r:id="rId27"/>
    </p:embeddedFont>
    <p:embeddedFont>
      <p:font typeface="Inter"/>
      <p:regular r:id="rId28"/>
      <p:bold r:id="rId29"/>
      <p:italic r:id="rId30"/>
      <p:boldItalic r:id="rId31"/>
    </p:embeddedFont>
    <p:embeddedFont>
      <p:font typeface="Urbanist"/>
      <p:regular r:id="rId32"/>
      <p:bold r:id="rId33"/>
      <p:italic r:id="rId34"/>
      <p:boldItalic r:id="rId35"/>
    </p:embeddedFont>
    <p:embeddedFont>
      <p:font typeface="Urbanist ExtraBold"/>
      <p:bold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6FD8678-F1D8-481D-B815-E1043DAD4665}">
  <a:tblStyle styleId="{76FD8678-F1D8-481D-B815-E1043DAD466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Light-regular.fntdata"/><Relationship Id="rId22" Type="http://schemas.openxmlformats.org/officeDocument/2006/relationships/font" Target="fonts/InterLight-italic.fntdata"/><Relationship Id="rId21" Type="http://schemas.openxmlformats.org/officeDocument/2006/relationships/font" Target="fonts/InterLight-bold.fntdata"/><Relationship Id="rId24" Type="http://schemas.openxmlformats.org/officeDocument/2006/relationships/font" Target="fonts/InterSemiBold-regular.fntdata"/><Relationship Id="rId23" Type="http://schemas.openxmlformats.org/officeDocument/2006/relationships/font" Target="fonts/InterLigh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SemiBold-italic.fntdata"/><Relationship Id="rId25" Type="http://schemas.openxmlformats.org/officeDocument/2006/relationships/font" Target="fonts/InterSemiBold-bold.fntdata"/><Relationship Id="rId28" Type="http://schemas.openxmlformats.org/officeDocument/2006/relationships/font" Target="fonts/Inter-regular.fntdata"/><Relationship Id="rId27" Type="http://schemas.openxmlformats.org/officeDocument/2006/relationships/font" Target="fonts/InterSemiBol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boldItalic.fntdata"/><Relationship Id="rId30" Type="http://schemas.openxmlformats.org/officeDocument/2006/relationships/font" Target="fonts/Inter-italic.fntdata"/><Relationship Id="rId11" Type="http://schemas.openxmlformats.org/officeDocument/2006/relationships/slide" Target="slides/slide5.xml"/><Relationship Id="rId33" Type="http://schemas.openxmlformats.org/officeDocument/2006/relationships/font" Target="fonts/Urbanist-bold.fntdata"/><Relationship Id="rId10" Type="http://schemas.openxmlformats.org/officeDocument/2006/relationships/slide" Target="slides/slide4.xml"/><Relationship Id="rId32" Type="http://schemas.openxmlformats.org/officeDocument/2006/relationships/font" Target="fonts/Urbanist-regular.fntdata"/><Relationship Id="rId13" Type="http://schemas.openxmlformats.org/officeDocument/2006/relationships/slide" Target="slides/slide7.xml"/><Relationship Id="rId35" Type="http://schemas.openxmlformats.org/officeDocument/2006/relationships/font" Target="fonts/Urbanist-boldItalic.fntdata"/><Relationship Id="rId12" Type="http://schemas.openxmlformats.org/officeDocument/2006/relationships/slide" Target="slides/slide6.xml"/><Relationship Id="rId34" Type="http://schemas.openxmlformats.org/officeDocument/2006/relationships/font" Target="fonts/Urbanist-italic.fntdata"/><Relationship Id="rId15" Type="http://schemas.openxmlformats.org/officeDocument/2006/relationships/slide" Target="slides/slide9.xml"/><Relationship Id="rId37" Type="http://schemas.openxmlformats.org/officeDocument/2006/relationships/font" Target="fonts/UrbanistExtraBold-boldItalic.fntdata"/><Relationship Id="rId14" Type="http://schemas.openxmlformats.org/officeDocument/2006/relationships/slide" Target="slides/slide8.xml"/><Relationship Id="rId36" Type="http://schemas.openxmlformats.org/officeDocument/2006/relationships/font" Target="fonts/UrbanistExtraBold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f3c5ddfe4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ef3c5ddfe4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ef3c5ddfe4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ef3c5ddfe4_0_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ef3c5ddfe4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ef3c5ddfe4_0_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ef3c5ddfe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ef3c5ddfe4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ef3c5ddfe4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ef3c5ddfe4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11" Type="http://schemas.openxmlformats.org/officeDocument/2006/relationships/image" Target="../media/image34.png"/><Relationship Id="rId10" Type="http://schemas.openxmlformats.org/officeDocument/2006/relationships/image" Target="../media/image27.gif"/><Relationship Id="rId12" Type="http://schemas.openxmlformats.org/officeDocument/2006/relationships/image" Target="../media/image33.png"/><Relationship Id="rId9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2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26.png"/><Relationship Id="rId7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Relationship Id="rId5" Type="http://schemas.openxmlformats.org/officeDocument/2006/relationships/image" Target="../media/image29.png"/><Relationship Id="rId6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Relationship Id="rId5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0.png"/><Relationship Id="rId5" Type="http://schemas.openxmlformats.org/officeDocument/2006/relationships/image" Target="../media/image3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5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805463" y="3400425"/>
            <a:ext cx="8581072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Alarma IoT Para Bicicletas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929062" y="4314825"/>
            <a:ext cx="4333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AAAAAA"/>
                </a:solidFill>
                <a:latin typeface="Inter"/>
                <a:ea typeface="Inter"/>
                <a:cs typeface="Inter"/>
                <a:sym typeface="Inter"/>
              </a:rPr>
              <a:t>TEI 201</a:t>
            </a:r>
            <a:r>
              <a:rPr b="0" i="0" lang="en-US" sz="1800" u="none" cap="none" strike="noStrike">
                <a:solidFill>
                  <a:srgbClr val="AAAAA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>
                <a:solidFill>
                  <a:srgbClr val="AAAAAA"/>
                </a:solidFill>
                <a:latin typeface="Inter"/>
                <a:ea typeface="Inter"/>
                <a:cs typeface="Inter"/>
                <a:sym typeface="Inter"/>
              </a:rPr>
              <a:t>- Entrega final</a:t>
            </a:r>
            <a:r>
              <a:rPr b="0" i="0" lang="en-US" sz="1800" u="none" cap="none" strike="noStrike">
                <a:solidFill>
                  <a:srgbClr val="AAAAAA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endParaRPr b="0" i="0" sz="1800" u="none" cap="none" strike="noStrike">
              <a:solidFill>
                <a:srgbClr val="AAAAA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AAAAA"/>
                </a:solidFill>
                <a:latin typeface="Inter"/>
                <a:ea typeface="Inter"/>
                <a:cs typeface="Inter"/>
                <a:sym typeface="Inter"/>
              </a:rPr>
              <a:t>Prototipo Completo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333750" y="4972050"/>
            <a:ext cx="5524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Carlos Bustos Antonio Lonza Jorge Gomez </a:t>
            </a:r>
            <a:r>
              <a:rPr b="0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Franco Cicarelli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629150" y="5553075"/>
            <a:ext cx="2933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Profesor: Sebastián Duarte | 25-06-2026</a:t>
            </a:r>
            <a:endParaRPr/>
          </a:p>
        </p:txBody>
      </p:sp>
      <p:pic>
        <p:nvPicPr>
          <p:cNvPr id="89" name="Google Shape;89;p13" title="Captura de pantalla 2026-06-24 a la(s) 8.40.41 p.m..png"/>
          <p:cNvPicPr preferRelativeResize="0"/>
          <p:nvPr/>
        </p:nvPicPr>
        <p:blipFill rotWithShape="1">
          <a:blip r:embed="rId4">
            <a:alphaModFix/>
          </a:blip>
          <a:srcRect b="7335" l="0" r="0" t="5443"/>
          <a:stretch/>
        </p:blipFill>
        <p:spPr>
          <a:xfrm>
            <a:off x="5207000" y="359825"/>
            <a:ext cx="1777999" cy="2804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A1A1A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EL PROBLEMA</a:t>
            </a:r>
            <a:r>
              <a:rPr lang="en-US" sz="3600">
                <a:solidFill>
                  <a:srgbClr val="1A1A1A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 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8B1D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33475" y="1544800"/>
            <a:ext cx="5334000" cy="17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Muchos estudiantes quieren usar la bicicleta para reducir su</a:t>
            </a:r>
            <a:r>
              <a:rPr lang="en-US" sz="18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huella de carbono </a:t>
            </a:r>
            <a:r>
              <a:rPr b="0" i="0" lang="en-US" sz="18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(ODS 13)</a:t>
            </a:r>
            <a:r>
              <a:rPr lang="en-US" sz="18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para construir una Comunidad </a:t>
            </a:r>
            <a:r>
              <a:rPr lang="en-US" sz="18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más</a:t>
            </a:r>
            <a:r>
              <a:rPr lang="en-US" sz="18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Sostenible (ODS11) 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33475" y="3429012"/>
            <a:ext cx="5334000" cy="13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Pero el miedo al</a:t>
            </a:r>
            <a:r>
              <a:rPr lang="en-US" sz="18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robo </a:t>
            </a:r>
            <a:r>
              <a:rPr b="0" i="0" lang="en-US" sz="18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es un</a:t>
            </a:r>
            <a:r>
              <a:rPr lang="en-US" sz="18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impedimento </a:t>
            </a:r>
            <a:r>
              <a:rPr b="0" i="0" lang="en-US" sz="18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real. Los bicicleteros actuales </a:t>
            </a:r>
            <a:r>
              <a:rPr lang="en-US" sz="18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no son seguros osea “Zonas ciegas”.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5030153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76275" y="5030153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Falta de monitoreo en tiempo real.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5334953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76275" y="5334953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Cámaras costosas que no avisan al instante.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571500" y="5639753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76275" y="5639753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Desincentivo del transporte limpio.</a:t>
            </a:r>
            <a:endParaRPr/>
          </a:p>
        </p:txBody>
      </p:sp>
      <p:pic>
        <p:nvPicPr>
          <p:cNvPr id="105" name="Google Shape;105;p14"/>
          <p:cNvPicPr preferRelativeResize="0"/>
          <p:nvPr/>
        </p:nvPicPr>
        <p:blipFill rotWithShape="1">
          <a:blip r:embed="rId4">
            <a:alphaModFix/>
          </a:blip>
          <a:srcRect b="19904" l="35436" r="32092" t="16116"/>
          <a:stretch/>
        </p:blipFill>
        <p:spPr>
          <a:xfrm>
            <a:off x="7451225" y="1544812"/>
            <a:ext cx="3400051" cy="3768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61883" l="73698" r="0" t="0"/>
          <a:stretch/>
        </p:blipFill>
        <p:spPr>
          <a:xfrm>
            <a:off x="8985250" y="42350"/>
            <a:ext cx="3206749" cy="2614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83150"/>
            <a:ext cx="3555950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4083150"/>
            <a:ext cx="3555950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4083150"/>
            <a:ext cx="3556099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782650" y="324225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A1A1A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LA SOLUCIÓN</a:t>
            </a:r>
            <a:r>
              <a:rPr lang="en-US" sz="3600">
                <a:solidFill>
                  <a:srgbClr val="1A1A1A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 -</a:t>
            </a:r>
            <a:r>
              <a:rPr b="0" i="0" lang="en-US" sz="3600" u="none" cap="none" strike="noStrike">
                <a:solidFill>
                  <a:srgbClr val="1A1A1A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 ECOSISTEMA IOT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571500" y="337800"/>
            <a:ext cx="76200" cy="552600"/>
          </a:xfrm>
          <a:prstGeom prst="rect">
            <a:avLst/>
          </a:prstGeom>
          <a:solidFill>
            <a:srgbClr val="8B1D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571500" y="1129963"/>
            <a:ext cx="11049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 sistema económico basado en </a:t>
            </a:r>
            <a:r>
              <a:rPr b="0" i="0" lang="en-US" sz="1500" u="none" cap="none" strike="noStrike">
                <a:solidFill>
                  <a:srgbClr val="8B1D1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ESP32-S3</a:t>
            </a:r>
            <a:r>
              <a:rPr b="0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que transforma una vibración en una </a:t>
            </a:r>
            <a:r>
              <a:rPr lang="en-US" sz="1500">
                <a:latin typeface="Inter"/>
                <a:ea typeface="Inter"/>
                <a:cs typeface="Inter"/>
                <a:sym typeface="Inter"/>
              </a:rPr>
              <a:t>información</a:t>
            </a:r>
            <a:r>
              <a:rPr b="0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inmediata</a:t>
            </a:r>
            <a:r>
              <a:rPr lang="en-US" sz="1500">
                <a:latin typeface="Inter"/>
                <a:ea typeface="Inter"/>
                <a:cs typeface="Inter"/>
                <a:sym typeface="Inter"/>
              </a:rPr>
              <a:t> para al actuar.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Inter"/>
                <a:ea typeface="Inter"/>
                <a:cs typeface="Inter"/>
                <a:sym typeface="Inter"/>
              </a:rPr>
              <a:t>	</a:t>
            </a:r>
            <a:endParaRPr b="1" sz="1500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Inter"/>
              <a:ea typeface="Inter"/>
              <a:cs typeface="Inter"/>
              <a:sym typeface="Inter"/>
            </a:endParaRPr>
          </a:p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Inter"/>
                <a:ea typeface="Inter"/>
                <a:cs typeface="Inter"/>
                <a:sym typeface="Inter"/>
              </a:rPr>
              <a:t>Beneficios a largo plazo </a:t>
            </a:r>
            <a:endParaRPr b="1" sz="15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11275" y="436890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782638" y="4892775"/>
            <a:ext cx="3133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4">
                <a:solidFill>
                  <a:srgbClr val="1A1A1A"/>
                </a:solidFill>
                <a:latin typeface="Urbanist"/>
                <a:ea typeface="Urbanist"/>
                <a:cs typeface="Urbanist"/>
                <a:sym typeface="Urbanist"/>
              </a:rPr>
              <a:t>Sonido de alarma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57250" y="5111850"/>
            <a:ext cx="298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Buzzer activo para ahuyentar al instante</a:t>
            </a:r>
            <a:r>
              <a:rPr lang="en-US" sz="1200">
                <a:latin typeface="Inter"/>
                <a:ea typeface="Inter"/>
                <a:cs typeface="Inter"/>
                <a:sym typeface="Inter"/>
              </a:rPr>
              <a:t> y generar atencion al entorno.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726" y="436890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4529089" y="4892775"/>
            <a:ext cx="3133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A1A1A"/>
                </a:solidFill>
                <a:latin typeface="Urbanist"/>
                <a:ea typeface="Urbanist"/>
                <a:cs typeface="Urbanist"/>
                <a:sym typeface="Urbanist"/>
              </a:rPr>
              <a:t>Historial Predictivo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4603700" y="5111850"/>
            <a:ext cx="298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Datos en </a:t>
            </a:r>
            <a:r>
              <a:rPr lang="en-US" sz="1200">
                <a:latin typeface="Inter"/>
                <a:ea typeface="Inter"/>
                <a:cs typeface="Inter"/>
                <a:sym typeface="Inter"/>
              </a:rPr>
              <a:t>almacenados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para analizar zonas de riesgo.</a:t>
            </a:r>
            <a:endParaRPr/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28137" y="436890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8275535" y="4892775"/>
            <a:ext cx="3133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A1A1A"/>
                </a:solidFill>
                <a:latin typeface="Urbanist"/>
                <a:ea typeface="Urbanist"/>
                <a:cs typeface="Urbanist"/>
                <a:sym typeface="Urbanist"/>
              </a:rPr>
              <a:t>Bajo Costo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350150" y="5111850"/>
            <a:ext cx="298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Costo </a:t>
            </a:r>
            <a:r>
              <a:rPr lang="en-US" sz="1200">
                <a:latin typeface="Inter"/>
                <a:ea typeface="Inter"/>
                <a:cs typeface="Inter"/>
                <a:sym typeface="Inter"/>
              </a:rPr>
              <a:t>componentes</a:t>
            </a: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aproximados: $22.352 CLP.</a:t>
            </a:r>
            <a:endParaRPr/>
          </a:p>
        </p:txBody>
      </p:sp>
      <p:pic>
        <p:nvPicPr>
          <p:cNvPr descr="image.png" id="126" name="Google Shape;12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425" y="2245338"/>
            <a:ext cx="3555950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8025" y="2292950"/>
            <a:ext cx="3555950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64625" y="2292950"/>
            <a:ext cx="3555950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782650" y="2437825"/>
            <a:ext cx="14637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Más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eficacia en las inversiones de seguridad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ue dollar sign with a black outline (proporcionado por Tenor)" id="130" name="Google Shape;130;p1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464750" y="2508273"/>
            <a:ext cx="1175925" cy="117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4545475" y="2682425"/>
            <a:ext cx="152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Fortalecer el sentimiento de seguridad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otected, shield protection, security icon (proporcionado por Getty Images)" id="132" name="Google Shape;132;p15"/>
          <p:cNvPicPr preferRelativeResize="0"/>
          <p:nvPr/>
        </p:nvPicPr>
        <p:blipFill rotWithShape="1">
          <a:blip r:embed="rId11">
            <a:alphaModFix/>
          </a:blip>
          <a:srcRect b="10711" l="17096" r="16304" t="9417"/>
          <a:stretch/>
        </p:blipFill>
        <p:spPr>
          <a:xfrm>
            <a:off x="6487575" y="2682424"/>
            <a:ext cx="783176" cy="939274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8064625" y="2573188"/>
            <a:ext cx="1767300" cy="10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Costo de mantenimiento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reducidos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ar, options, setting icon. Editable vector isolated on a white background (proporcionado por Getty Images)" id="134" name="Google Shape;134;p15"/>
          <p:cNvPicPr preferRelativeResize="0"/>
          <p:nvPr/>
        </p:nvPicPr>
        <p:blipFill rotWithShape="1">
          <a:blip r:embed="rId12">
            <a:alphaModFix/>
          </a:blip>
          <a:srcRect b="17589" l="9045" r="8954" t="15279"/>
          <a:stretch/>
        </p:blipFill>
        <p:spPr>
          <a:xfrm>
            <a:off x="9908550" y="2573188"/>
            <a:ext cx="1277885" cy="1046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6"/>
          <p:cNvPicPr preferRelativeResize="0"/>
          <p:nvPr/>
        </p:nvPicPr>
        <p:blipFill rotWithShape="1">
          <a:blip r:embed="rId3">
            <a:alphaModFix/>
          </a:blip>
          <a:srcRect b="52620" l="72982" r="0" t="0"/>
          <a:stretch/>
        </p:blipFill>
        <p:spPr>
          <a:xfrm>
            <a:off x="8898050" y="42350"/>
            <a:ext cx="3293949" cy="324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782650" y="324225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A1A1A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LA SOLUCIÓN</a:t>
            </a:r>
            <a:r>
              <a:rPr lang="en-US" sz="3600">
                <a:solidFill>
                  <a:srgbClr val="1A1A1A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 -</a:t>
            </a:r>
            <a:r>
              <a:rPr b="0" i="0" lang="en-US" sz="3600" u="none" cap="none" strike="noStrike">
                <a:solidFill>
                  <a:srgbClr val="1A1A1A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 ECOSISTEMA IOT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571500" y="337800"/>
            <a:ext cx="76200" cy="552600"/>
          </a:xfrm>
          <a:prstGeom prst="rect">
            <a:avLst/>
          </a:prstGeom>
          <a:solidFill>
            <a:srgbClr val="8B1D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523250" y="1241875"/>
            <a:ext cx="52689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Nuestra arquitectura se basa en un ecosistema integrado donde cada etapa garantiza confianza: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749300" rtl="0" algn="just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b="1" lang="en-U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Percepción</a:t>
            </a:r>
            <a:r>
              <a:rPr lang="en-U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Utilizamos sensores KY-017. No es solo de detectar movimiento, sino de saber diferenciar una vibración no relevante de un intento real de manipulación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7493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b="1" lang="en-U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Procesamiento</a:t>
            </a:r>
            <a:r>
              <a:rPr lang="en-U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-U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Edge</a:t>
            </a:r>
            <a:r>
              <a:rPr lang="en-U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Algoritmo local en ESP32 para filtrado de falsos positivos.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7493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b="1" lang="en-U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Transporte</a:t>
            </a:r>
            <a:r>
              <a:rPr lang="en-U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Implementamos el protocolo MQTT sobre nuestra red WiFi. Es una tecnología de mensajería ligera, elegida específicamente para asegurar que el dato llegue con latencia ultra-baja desde el estacionamiento hasta el servidor. 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7493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b="1" lang="en-U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Aplicación</a:t>
            </a:r>
            <a:r>
              <a:rPr lang="en-U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I</a:t>
            </a:r>
            <a:r>
              <a:rPr lang="en-U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ntegramos</a:t>
            </a:r>
            <a:r>
              <a:rPr lang="en-U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todo el flujo con un Bot de Telegram. Elegimos esta plataforma porque es la forma más directa y confiable de entregar una "notificación" crítica al usuario en el momento exacto. 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16" title="Captura de pantalla 2026-06-24 a la(s) 9.09.32 p.m..png"/>
          <p:cNvPicPr preferRelativeResize="0"/>
          <p:nvPr/>
        </p:nvPicPr>
        <p:blipFill rotWithShape="1">
          <a:blip r:embed="rId4">
            <a:alphaModFix/>
          </a:blip>
          <a:srcRect b="0" l="0" r="6411" t="0"/>
          <a:stretch/>
        </p:blipFill>
        <p:spPr>
          <a:xfrm>
            <a:off x="6330149" y="1453800"/>
            <a:ext cx="1899725" cy="143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title="Captura de pantalla 2026-06-24 a la(s) 9.09.46 p.m..png"/>
          <p:cNvPicPr preferRelativeResize="0"/>
          <p:nvPr/>
        </p:nvPicPr>
        <p:blipFill rotWithShape="1">
          <a:blip r:embed="rId5">
            <a:alphaModFix/>
          </a:blip>
          <a:srcRect b="15597" l="10060" r="8745" t="11522"/>
          <a:stretch/>
        </p:blipFill>
        <p:spPr>
          <a:xfrm>
            <a:off x="9617038" y="2173638"/>
            <a:ext cx="2029925" cy="114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 title="Captura de pantalla 2026-06-24 a la(s) 9.09.52 p.m..png"/>
          <p:cNvPicPr preferRelativeResize="0"/>
          <p:nvPr/>
        </p:nvPicPr>
        <p:blipFill rotWithShape="1">
          <a:blip r:embed="rId6">
            <a:alphaModFix/>
          </a:blip>
          <a:srcRect b="0" l="0" r="8601" t="12057"/>
          <a:stretch/>
        </p:blipFill>
        <p:spPr>
          <a:xfrm>
            <a:off x="6045700" y="3878575"/>
            <a:ext cx="2081400" cy="151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 title="Captura de pantalla 2026-06-24 a la(s) 9.09.58 p.m..png"/>
          <p:cNvPicPr preferRelativeResize="0"/>
          <p:nvPr/>
        </p:nvPicPr>
        <p:blipFill rotWithShape="1">
          <a:blip r:embed="rId7">
            <a:alphaModFix/>
          </a:blip>
          <a:srcRect b="11822" l="7444" r="4667" t="6930"/>
          <a:stretch/>
        </p:blipFill>
        <p:spPr>
          <a:xfrm>
            <a:off x="9493400" y="4635988"/>
            <a:ext cx="2277250" cy="1295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7" name="Google Shape;147;p16"/>
          <p:cNvCxnSpPr>
            <a:stCxn id="143" idx="3"/>
            <a:endCxn id="144" idx="1"/>
          </p:cNvCxnSpPr>
          <p:nvPr/>
        </p:nvCxnSpPr>
        <p:spPr>
          <a:xfrm>
            <a:off x="8229874" y="2173638"/>
            <a:ext cx="1387200" cy="57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" name="Google Shape;148;p16"/>
          <p:cNvCxnSpPr>
            <a:stCxn id="144" idx="2"/>
            <a:endCxn id="145" idx="0"/>
          </p:cNvCxnSpPr>
          <p:nvPr/>
        </p:nvCxnSpPr>
        <p:spPr>
          <a:xfrm flipH="1">
            <a:off x="7086300" y="3318187"/>
            <a:ext cx="3545700" cy="56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" name="Google Shape;149;p16"/>
          <p:cNvCxnSpPr>
            <a:stCxn id="145" idx="3"/>
            <a:endCxn id="146" idx="1"/>
          </p:cNvCxnSpPr>
          <p:nvPr/>
        </p:nvCxnSpPr>
        <p:spPr>
          <a:xfrm>
            <a:off x="8127100" y="4635988"/>
            <a:ext cx="1366200" cy="64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6400" y="2238375"/>
            <a:ext cx="8839200" cy="321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3380849" y="1416825"/>
            <a:ext cx="5430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1A1A1A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Demostracion en vivo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2076450" y="2638425"/>
            <a:ext cx="8039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B1D1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Momento de mostrar el </a:t>
            </a:r>
            <a:r>
              <a:rPr lang="en-US" sz="2100">
                <a:solidFill>
                  <a:srgbClr val="8B1D1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producto</a:t>
            </a:r>
            <a:endParaRPr/>
          </a:p>
        </p:txBody>
      </p:sp>
      <p:pic>
        <p:nvPicPr>
          <p:cNvPr descr="image.png" id="158" name="Google Shape;15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52850" y="2667000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3533775" y="3248025"/>
            <a:ext cx="1047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3638550" y="3248025"/>
            <a:ext cx="4914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1. Activar vibración en el prototipo.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3533775" y="3629025"/>
            <a:ext cx="1047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3638550" y="3629025"/>
            <a:ext cx="4914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2. Escuchar el Buzzer (1 seg).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3533775" y="4010025"/>
            <a:ext cx="1047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3638550" y="4010025"/>
            <a:ext cx="4914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3. Mostrar el Dashboard de Node-RED en tiempo</a:t>
            </a:r>
            <a:r>
              <a:rPr lang="en-US" sz="150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real.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3477000" y="4837750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3638550" y="4837750"/>
            <a:ext cx="49149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norm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4. Mostrar la notificación instantánea en Telegram.</a:t>
            </a:r>
            <a:endParaRPr sz="15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2129700" y="3479013"/>
            <a:ext cx="1895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Puntos relevantes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8"/>
          <p:cNvPicPr preferRelativeResize="0"/>
          <p:nvPr/>
        </p:nvPicPr>
        <p:blipFill rotWithShape="1">
          <a:blip r:embed="rId3">
            <a:alphaModFix/>
          </a:blip>
          <a:srcRect b="0" l="71430" r="0" t="0"/>
          <a:stretch/>
        </p:blipFill>
        <p:spPr>
          <a:xfrm>
            <a:off x="8708750" y="0"/>
            <a:ext cx="348325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215725" y="249773"/>
            <a:ext cx="736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A1A1A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CÓDIGO </a:t>
            </a:r>
            <a:endParaRPr/>
          </a:p>
        </p:txBody>
      </p:sp>
      <p:pic>
        <p:nvPicPr>
          <p:cNvPr id="174" name="Google Shape;17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50" y="803873"/>
            <a:ext cx="8403951" cy="1876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950" y="2760075"/>
            <a:ext cx="6611550" cy="160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950" y="4366275"/>
            <a:ext cx="5082774" cy="2397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7" name="Google Shape;177;p18"/>
          <p:cNvCxnSpPr/>
          <p:nvPr/>
        </p:nvCxnSpPr>
        <p:spPr>
          <a:xfrm>
            <a:off x="19350" y="4354275"/>
            <a:ext cx="12153300" cy="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18"/>
          <p:cNvCxnSpPr/>
          <p:nvPr/>
        </p:nvCxnSpPr>
        <p:spPr>
          <a:xfrm>
            <a:off x="0" y="2726938"/>
            <a:ext cx="12213600" cy="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" name="Google Shape;179;p18"/>
          <p:cNvSpPr txBox="1"/>
          <p:nvPr/>
        </p:nvSpPr>
        <p:spPr>
          <a:xfrm>
            <a:off x="8647975" y="941675"/>
            <a:ext cx="3604800" cy="19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Librerias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Wifi.h: Permite Conectar el microcontrolador a internet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HTTPClient.h: Permite enviar alertas a firebase y telegram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ssid y password credenciales arbitrarias.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token y chat_id credenciales para identificar al bot y al chat.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 string - guarda un texto alfanumérico como variable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8700525" y="3000800"/>
            <a:ext cx="3358800" cy="12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1430" r="0" t="0"/>
          <a:stretch/>
        </p:blipFill>
        <p:spPr>
          <a:xfrm>
            <a:off x="8708750" y="0"/>
            <a:ext cx="348325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 txBox="1"/>
          <p:nvPr/>
        </p:nvSpPr>
        <p:spPr>
          <a:xfrm>
            <a:off x="215725" y="249773"/>
            <a:ext cx="736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A1A1A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CÓDIGO </a:t>
            </a:r>
            <a:endParaRPr/>
          </a:p>
        </p:txBody>
      </p:sp>
      <p:pic>
        <p:nvPicPr>
          <p:cNvPr id="187" name="Google Shape;187;p19"/>
          <p:cNvPicPr preferRelativeResize="0"/>
          <p:nvPr/>
        </p:nvPicPr>
        <p:blipFill rotWithShape="1">
          <a:blip r:embed="rId4">
            <a:alphaModFix/>
          </a:blip>
          <a:srcRect b="0" l="0" r="2153" t="0"/>
          <a:stretch/>
        </p:blipFill>
        <p:spPr>
          <a:xfrm>
            <a:off x="215725" y="803875"/>
            <a:ext cx="8748350" cy="182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5725" y="2798000"/>
            <a:ext cx="4224275" cy="16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4650750"/>
            <a:ext cx="5188875" cy="2064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0" name="Google Shape;190;p19"/>
          <p:cNvCxnSpPr/>
          <p:nvPr/>
        </p:nvCxnSpPr>
        <p:spPr>
          <a:xfrm flipH="1" rot="10800000">
            <a:off x="-12050" y="2628525"/>
            <a:ext cx="12213600" cy="8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" name="Google Shape;191;p19"/>
          <p:cNvCxnSpPr/>
          <p:nvPr/>
        </p:nvCxnSpPr>
        <p:spPr>
          <a:xfrm flipH="1" rot="10800000">
            <a:off x="-10800" y="4522775"/>
            <a:ext cx="12213600" cy="8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" name="Google Shape;192;p19"/>
          <p:cNvSpPr txBox="1"/>
          <p:nvPr/>
        </p:nvSpPr>
        <p:spPr>
          <a:xfrm>
            <a:off x="9035875" y="249775"/>
            <a:ext cx="2951700" cy="20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Este bloque es el encargado de dar </a:t>
            </a:r>
            <a:r>
              <a:rPr lang="en-US" sz="1100">
                <a:solidFill>
                  <a:schemeClr val="dk1"/>
                </a:solidFill>
              </a:rPr>
              <a:t>conexión</a:t>
            </a:r>
            <a:r>
              <a:rPr lang="en-US" sz="1100">
                <a:solidFill>
                  <a:schemeClr val="dk1"/>
                </a:solidFill>
              </a:rPr>
              <a:t> al dispositivo estableciendo la comunicación con el entorno. Mediante </a:t>
            </a:r>
            <a:r>
              <a:rPr b="1" lang="en-US" sz="1100">
                <a:solidFill>
                  <a:schemeClr val="dk1"/>
                </a:solidFill>
              </a:rPr>
              <a:t>WiFi.begin(ssid, password)</a:t>
            </a:r>
            <a:r>
              <a:rPr lang="en-US" sz="1100">
                <a:solidFill>
                  <a:schemeClr val="dk1"/>
                </a:solidFill>
              </a:rPr>
              <a:t>, el ESP32 inicia la búsqueda de la red para establecer el enlace, mientras que el </a:t>
            </a:r>
            <a:r>
              <a:rPr b="1" lang="en-US" sz="1100">
                <a:solidFill>
                  <a:schemeClr val="dk1"/>
                </a:solidFill>
              </a:rPr>
              <a:t>ciclo while (WiFi.status() != WL_CONNECTED)</a:t>
            </a:r>
            <a:r>
              <a:rPr lang="en-US" sz="1100">
                <a:solidFill>
                  <a:schemeClr val="dk1"/>
                </a:solidFill>
              </a:rPr>
              <a:t> actúa como una re </a:t>
            </a:r>
            <a:r>
              <a:rPr lang="en-US" sz="1100">
                <a:solidFill>
                  <a:schemeClr val="dk1"/>
                </a:solidFill>
              </a:rPr>
              <a:t>confirmación</a:t>
            </a:r>
            <a:r>
              <a:rPr lang="en-US" sz="1100">
                <a:solidFill>
                  <a:schemeClr val="dk1"/>
                </a:solidFill>
              </a:rPr>
              <a:t> , obligando al sistema a esperar hasta que la conexión sea exitosa antes de operar, lo cual asegura que ningún evento se pierda por falta de conectividad inicial.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3" name="Google Shape;193;p19"/>
          <p:cNvSpPr txBox="1"/>
          <p:nvPr/>
        </p:nvSpPr>
        <p:spPr>
          <a:xfrm>
            <a:off x="6926275" y="3001475"/>
            <a:ext cx="48999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Esta bloque, ubicada dentro del </a:t>
            </a:r>
            <a:r>
              <a:rPr b="1" lang="en-US" sz="1100"/>
              <a:t>loop()</a:t>
            </a:r>
            <a:r>
              <a:rPr lang="en-US" sz="1100"/>
              <a:t>, actúa como el sistema de activacion osea el que toma decisiones de seguridad en milisegundos sin depender de la nube. Al ejecutar </a:t>
            </a:r>
            <a:r>
              <a:rPr b="1" lang="en-US" sz="1100"/>
              <a:t>int estadoActual = digitalRead(PIN_SENSOR)</a:t>
            </a:r>
            <a:r>
              <a:rPr lang="en-US" sz="1100"/>
              <a:t>, el sistema vigila constantemente el sensor KY-017, y si la condición </a:t>
            </a:r>
            <a:r>
              <a:rPr b="1" lang="en-US" sz="1100"/>
              <a:t>if (estadoActual == HIGH)</a:t>
            </a:r>
            <a:r>
              <a:rPr lang="en-US" sz="1100"/>
              <a:t> se cumple, activa instantáneamente el </a:t>
            </a:r>
            <a:r>
              <a:rPr b="1" lang="en-US" sz="1100"/>
              <a:t>tone(PIN_BUZZER, 2500)</a:t>
            </a:r>
            <a:r>
              <a:rPr lang="en-US" sz="1100"/>
              <a:t> para espantar al </a:t>
            </a:r>
            <a:r>
              <a:rPr lang="en-US" sz="1100"/>
              <a:t>ladrón</a:t>
            </a:r>
            <a:r>
              <a:rPr lang="en-US" sz="1100"/>
              <a:t> de forma efectiva con una alarma.</a:t>
            </a:r>
            <a:endParaRPr sz="1100"/>
          </a:p>
        </p:txBody>
      </p:sp>
      <p:sp>
        <p:nvSpPr>
          <p:cNvPr id="194" name="Google Shape;194;p19"/>
          <p:cNvSpPr txBox="1"/>
          <p:nvPr/>
        </p:nvSpPr>
        <p:spPr>
          <a:xfrm>
            <a:off x="7031050" y="4740675"/>
            <a:ext cx="4471800" cy="17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Este bloque, es donde la </a:t>
            </a:r>
            <a:r>
              <a:rPr lang="en-US" sz="1100">
                <a:solidFill>
                  <a:schemeClr val="dk1"/>
                </a:solidFill>
              </a:rPr>
              <a:t>acción</a:t>
            </a:r>
            <a:r>
              <a:rPr lang="en-US" sz="1100">
                <a:solidFill>
                  <a:schemeClr val="dk1"/>
                </a:solidFill>
              </a:rPr>
              <a:t> se transforma en una notificación digital eficiente. Gracias al filtro </a:t>
            </a:r>
            <a:r>
              <a:rPr b="1" lang="en-US" sz="1100">
                <a:solidFill>
                  <a:schemeClr val="dk1"/>
                </a:solidFill>
              </a:rPr>
              <a:t>if (millis() - ultimaAlertaTime &gt; 5000)</a:t>
            </a:r>
            <a:r>
              <a:rPr lang="en-US" sz="1100">
                <a:solidFill>
                  <a:schemeClr val="dk1"/>
                </a:solidFill>
              </a:rPr>
              <a:t>, evitamos saturar al usuario con spam de alertas, mientras que el uso de </a:t>
            </a:r>
            <a:r>
              <a:rPr b="1" lang="en-US" sz="1100">
                <a:solidFill>
                  <a:schemeClr val="dk1"/>
                </a:solidFill>
              </a:rPr>
              <a:t>http.POST(jsonPayload) </a:t>
            </a:r>
            <a:r>
              <a:rPr lang="en-US" sz="1100">
                <a:solidFill>
                  <a:schemeClr val="dk1"/>
                </a:solidFill>
              </a:rPr>
              <a:t>permite enviar la información de manera liviana a la nube, confirmando la entrega correcta del mensaje mediante </a:t>
            </a:r>
            <a:r>
              <a:rPr b="1" lang="en-US" sz="1100">
                <a:solidFill>
                  <a:schemeClr val="dk1"/>
                </a:solidFill>
              </a:rPr>
              <a:t>if (httpCode &gt; 0)</a:t>
            </a:r>
            <a:r>
              <a:rPr lang="en-US" sz="1100">
                <a:solidFill>
                  <a:schemeClr val="dk1"/>
                </a:solidFill>
              </a:rPr>
              <a:t>, lo que garantiza que el usuario reciba la notificación en su celular de manera rapida. 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0"/>
          <p:cNvPicPr preferRelativeResize="0"/>
          <p:nvPr/>
        </p:nvPicPr>
        <p:blipFill rotWithShape="1">
          <a:blip r:embed="rId3">
            <a:alphaModFix/>
          </a:blip>
          <a:srcRect b="0" l="71430" r="0" t="0"/>
          <a:stretch/>
        </p:blipFill>
        <p:spPr>
          <a:xfrm>
            <a:off x="8708750" y="0"/>
            <a:ext cx="348325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215725" y="249773"/>
            <a:ext cx="736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A1A1A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CÓDIGO </a:t>
            </a:r>
            <a:endParaRPr/>
          </a:p>
        </p:txBody>
      </p:sp>
      <p:pic>
        <p:nvPicPr>
          <p:cNvPr id="201" name="Google Shape;20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725" y="1005850"/>
            <a:ext cx="5463099" cy="5581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6485275" y="164575"/>
            <a:ext cx="5164800" cy="21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1500" u="sng">
                <a:solidFill>
                  <a:schemeClr val="dk1"/>
                </a:solidFill>
              </a:rPr>
              <a:t>El loop() de nuestro sistema</a:t>
            </a:r>
            <a:endParaRPr b="1" i="1" sz="1500" u="sng">
              <a:solidFill>
                <a:schemeClr val="dk1"/>
              </a:solidFill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int estadoActual = digitalRead(PIN_SENSOR);</a:t>
            </a:r>
            <a:r>
              <a:rPr lang="en-US" sz="1100">
                <a:solidFill>
                  <a:schemeClr val="dk1"/>
                </a:solidFill>
              </a:rPr>
              <a:t>: "Aquí iniciamos el ciclo. El ESP32 consulta constantemente el sensor KY-017. Si no hay movimiento, el sistema se mantiene inactivo.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delay(100); y la re-verificación:</a:t>
            </a:r>
            <a:r>
              <a:rPr lang="en-US" sz="1100">
                <a:solidFill>
                  <a:schemeClr val="dk1"/>
                </a:solidFill>
              </a:rPr>
              <a:t> "Implementamos un pequeño delay de 100ms para hacer una re-verificación. Esto es super importante ya que antes de declarar una alerta, confirmamos que el cambio en el sensor sea real y no una falsa alarma".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La lógica de decisión if (estadoActual == HIGH):</a:t>
            </a:r>
            <a:r>
              <a:rPr lang="en-US" sz="1100">
                <a:solidFill>
                  <a:schemeClr val="dk1"/>
                </a:solidFill>
              </a:rPr>
              <a:t> "Si confirmamos el movimiento, ejecutamos el </a:t>
            </a:r>
            <a:r>
              <a:rPr b="1" lang="en-US" sz="1100">
                <a:solidFill>
                  <a:schemeClr val="dk1"/>
                </a:solidFill>
              </a:rPr>
              <a:t>tone(PIN_BUZZER, 2500)</a:t>
            </a:r>
            <a:r>
              <a:rPr lang="en-US" sz="1100">
                <a:solidFill>
                  <a:schemeClr val="dk1"/>
                </a:solidFill>
              </a:rPr>
              <a:t> durante exactamente un segundo. Es un sonido inmediato que llama la </a:t>
            </a:r>
            <a:r>
              <a:rPr lang="en-US" sz="1100">
                <a:solidFill>
                  <a:schemeClr val="dk1"/>
                </a:solidFill>
              </a:rPr>
              <a:t>atención</a:t>
            </a:r>
            <a:r>
              <a:rPr lang="en-US" sz="1100">
                <a:solidFill>
                  <a:schemeClr val="dk1"/>
                </a:solidFill>
              </a:rPr>
              <a:t> que sucede en el hardware local, sin esperar a la red".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El control de flujo inteligente:</a:t>
            </a:r>
            <a:r>
              <a:rPr lang="en-US" sz="1100">
                <a:solidFill>
                  <a:schemeClr val="dk1"/>
                </a:solidFill>
              </a:rPr>
              <a:t> "Aquí aplicamos nuestro 'Filtro Anti-Rebote'. Evaluamos si </a:t>
            </a:r>
            <a:r>
              <a:rPr b="1" lang="en-US" sz="1100">
                <a:solidFill>
                  <a:schemeClr val="dk1"/>
                </a:solidFill>
              </a:rPr>
              <a:t>(tiempoActual - ultimaAlertaTime &gt; tiempoBloqueo)</a:t>
            </a:r>
            <a:r>
              <a:rPr lang="en-US" sz="1100">
                <a:solidFill>
                  <a:schemeClr val="dk1"/>
                </a:solidFill>
              </a:rPr>
              <a:t>. Si la bicicleta sigue siendo movida, bloqueamos el envío de notificaciones innecesarias a Telegram durante 5 segundos. Esto evita que el usuario reciba un spam de alertas por un mismo incidente".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Comunicación con la Nube:</a:t>
            </a:r>
            <a:r>
              <a:rPr lang="en-US" sz="1100">
                <a:solidFill>
                  <a:schemeClr val="dk1"/>
                </a:solidFill>
              </a:rPr>
              <a:t> "Finalmente, si la alerta pasa el filtro, se ejecutan las funciones </a:t>
            </a:r>
            <a:r>
              <a:rPr b="1" lang="en-US" sz="1100">
                <a:solidFill>
                  <a:schemeClr val="dk1"/>
                </a:solidFill>
              </a:rPr>
              <a:t>actualizarFirebase() y enviarAlertaTelegram().</a:t>
            </a:r>
            <a:r>
              <a:rPr lang="en-US" sz="1100">
                <a:solidFill>
                  <a:schemeClr val="dk1"/>
                </a:solidFill>
              </a:rPr>
              <a:t> Esto asegura que el evento quede respaldado en la base de datos histórica y que el usuario sea notificado al instante en su celular".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 title="WhatsApp Image 2026-06-24 at 8.22.10 PM.jpeg"/>
          <p:cNvPicPr preferRelativeResize="0"/>
          <p:nvPr/>
        </p:nvPicPr>
        <p:blipFill rotWithShape="1">
          <a:blip r:embed="rId4">
            <a:alphaModFix/>
          </a:blip>
          <a:srcRect b="5268" l="0" r="0" t="2473"/>
          <a:stretch/>
        </p:blipFill>
        <p:spPr>
          <a:xfrm>
            <a:off x="571500" y="1409700"/>
            <a:ext cx="5334000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A1A1A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DISEÑO </a:t>
            </a:r>
            <a:r>
              <a:rPr lang="en-US" sz="3600">
                <a:solidFill>
                  <a:srgbClr val="1A1A1A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3D</a:t>
            </a:r>
            <a:endParaRPr/>
          </a:p>
        </p:txBody>
      </p:sp>
      <p:sp>
        <p:nvSpPr>
          <p:cNvPr id="210" name="Google Shape;210;p21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8B1D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6286500" y="1409700"/>
            <a:ext cx="5600700" cy="427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6" u="none" cap="none" strike="noStrike">
                <a:solidFill>
                  <a:srgbClr val="1A1A1A"/>
                </a:solidFill>
                <a:latin typeface="Urbanist"/>
                <a:ea typeface="Urbanist"/>
                <a:cs typeface="Urbanist"/>
                <a:sym typeface="Urbanist"/>
              </a:rPr>
              <a:t>Fusion 360 &amp; Impresión 3D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6286500" y="2028080"/>
            <a:ext cx="5334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Diseñamos una carcasa funcional con un sistema de </a:t>
            </a:r>
            <a:r>
              <a:rPr b="0" i="0" lang="en-US" sz="1350" u="none" cap="none" strike="noStrike">
                <a:solidFill>
                  <a:srgbClr val="8B1D1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anclaje de abrazadera</a:t>
            </a:r>
            <a:r>
              <a:rPr b="0" i="0" lang="en-US" sz="135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6381750" y="271858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6477000" y="2719536"/>
            <a:ext cx="51435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Seguridad:</a:t>
            </a:r>
            <a:r>
              <a:rPr b="0" i="0" lang="en-US" sz="135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Sistema de </a:t>
            </a:r>
            <a:r>
              <a:rPr lang="en-US" sz="135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ganchos</a:t>
            </a:r>
            <a:r>
              <a:rPr b="0" i="0" lang="en-US" sz="135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internos (requiere clip para apertura).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6286500" y="3401564"/>
            <a:ext cx="954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6515100" y="3401579"/>
            <a:ext cx="51435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Integración:</a:t>
            </a:r>
            <a:r>
              <a:rPr b="0" i="0" lang="en-US" sz="135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Instalación bajo el sillín para máxima transferencia de vibración.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6286500" y="4092044"/>
            <a:ext cx="954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6515100" y="4092047"/>
            <a:ext cx="51435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Iteración:</a:t>
            </a:r>
            <a:r>
              <a:rPr b="0" i="0" lang="en-US" sz="135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Aprendimos sobre tolerancias de impresión y rigidez de materiales.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3" name="Google Shape;22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1A1A1A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PLANOS DEL </a:t>
            </a:r>
            <a:r>
              <a:rPr b="0" i="0" lang="en-US" sz="3600" u="none" cap="none" strike="noStrike">
                <a:solidFill>
                  <a:srgbClr val="1A1A1A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DISEÑO </a:t>
            </a:r>
            <a:r>
              <a:rPr lang="en-US" sz="3600">
                <a:solidFill>
                  <a:srgbClr val="1A1A1A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3D </a:t>
            </a:r>
            <a:endParaRPr/>
          </a:p>
        </p:txBody>
      </p:sp>
      <p:sp>
        <p:nvSpPr>
          <p:cNvPr id="225" name="Google Shape;225;p22"/>
          <p:cNvSpPr/>
          <p:nvPr/>
        </p:nvSpPr>
        <p:spPr>
          <a:xfrm>
            <a:off x="571500" y="571500"/>
            <a:ext cx="76200" cy="552600"/>
          </a:xfrm>
          <a:prstGeom prst="rect">
            <a:avLst/>
          </a:prstGeom>
          <a:solidFill>
            <a:srgbClr val="8B1D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22" title="Captura de pantalla 2026-06-24 a la(s) 8.35.05 p.m.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425" y="1545175"/>
            <a:ext cx="6043074" cy="4497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2" title="Captura de pantalla 2026-06-24 a la(s) 8.35.55 p.m.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59500" y="1545175"/>
            <a:ext cx="5958425" cy="4497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3" title="Captura de pantalla 2026-06-24 a la(s) 8.37.05 p.m..png"/>
          <p:cNvPicPr preferRelativeResize="0"/>
          <p:nvPr/>
        </p:nvPicPr>
        <p:blipFill rotWithShape="1">
          <a:blip r:embed="rId4">
            <a:alphaModFix/>
          </a:blip>
          <a:srcRect b="-1090" l="-8888" r="-1244" t="1090"/>
          <a:stretch/>
        </p:blipFill>
        <p:spPr>
          <a:xfrm>
            <a:off x="1915600" y="1356800"/>
            <a:ext cx="7323650" cy="4876801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3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1A1A1A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PLANOS DEL </a:t>
            </a:r>
            <a:r>
              <a:rPr b="0" i="0" lang="en-US" sz="3600" u="none" cap="none" strike="noStrike">
                <a:solidFill>
                  <a:srgbClr val="1A1A1A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DISEÑO </a:t>
            </a:r>
            <a:r>
              <a:rPr lang="en-US" sz="3600">
                <a:solidFill>
                  <a:srgbClr val="1A1A1A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3D </a:t>
            </a:r>
            <a:endParaRPr/>
          </a:p>
        </p:txBody>
      </p:sp>
      <p:sp>
        <p:nvSpPr>
          <p:cNvPr id="235" name="Google Shape;235;p23"/>
          <p:cNvSpPr/>
          <p:nvPr/>
        </p:nvSpPr>
        <p:spPr>
          <a:xfrm>
            <a:off x="571500" y="571500"/>
            <a:ext cx="76200" cy="552600"/>
          </a:xfrm>
          <a:prstGeom prst="rect">
            <a:avLst/>
          </a:prstGeom>
          <a:solidFill>
            <a:srgbClr val="8B1D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0" name="Google Shape;24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409700"/>
            <a:ext cx="5244200" cy="511142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4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A1A1A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VALIDACIÓN CON USUARIOS REALES</a:t>
            </a:r>
            <a:endParaRPr/>
          </a:p>
        </p:txBody>
      </p:sp>
      <p:sp>
        <p:nvSpPr>
          <p:cNvPr id="243" name="Google Shape;243;p24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8B1D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4"/>
          <p:cNvSpPr txBox="1"/>
          <p:nvPr/>
        </p:nvSpPr>
        <p:spPr>
          <a:xfrm>
            <a:off x="408500" y="1124092"/>
            <a:ext cx="56007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4">
                <a:solidFill>
                  <a:srgbClr val="1A1A1A"/>
                </a:solidFill>
                <a:latin typeface="Urbanist"/>
                <a:ea typeface="Urbanist"/>
                <a:cs typeface="Urbanist"/>
                <a:sym typeface="Urbanist"/>
              </a:rPr>
              <a:t>Recomendaciones</a:t>
            </a:r>
            <a:r>
              <a:rPr b="1" lang="en-US" sz="1404">
                <a:solidFill>
                  <a:srgbClr val="1A1A1A"/>
                </a:solidFill>
                <a:latin typeface="Urbanist"/>
                <a:ea typeface="Urbanist"/>
                <a:cs typeface="Urbanist"/>
                <a:sym typeface="Urbanist"/>
              </a:rPr>
              <a:t> de Usuarios</a:t>
            </a:r>
            <a:endParaRPr b="1" sz="1404">
              <a:solidFill>
                <a:srgbClr val="1A1A1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4">
              <a:solidFill>
                <a:srgbClr val="1A1A1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4">
              <a:solidFill>
                <a:srgbClr val="1A1A1A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5" name="Google Shape;245;p24"/>
          <p:cNvSpPr txBox="1"/>
          <p:nvPr/>
        </p:nvSpPr>
        <p:spPr>
          <a:xfrm>
            <a:off x="6463188" y="1704975"/>
            <a:ext cx="498062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8B1D1D"/>
                </a:solidFill>
                <a:latin typeface="Urbanist"/>
                <a:ea typeface="Urbanist"/>
                <a:cs typeface="Urbanist"/>
                <a:sym typeface="Urbanist"/>
              </a:rPr>
              <a:t>Conclusiones Técnicas</a:t>
            </a:r>
            <a:endParaRPr/>
          </a:p>
        </p:txBody>
      </p:sp>
      <p:pic>
        <p:nvPicPr>
          <p:cNvPr descr="image.png" id="246" name="Google Shape;24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62887" y="170497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4"/>
          <p:cNvSpPr txBox="1"/>
          <p:nvPr/>
        </p:nvSpPr>
        <p:spPr>
          <a:xfrm>
            <a:off x="6496050" y="2418397"/>
            <a:ext cx="857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6581775" y="2419350"/>
            <a:ext cx="47434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Software:</a:t>
            </a: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100% confiable. Alertas en &lt; 1 seg.</a:t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6496050" y="2692687"/>
            <a:ext cx="857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6581775" y="2693640"/>
            <a:ext cx="47434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Hardware:</a:t>
            </a: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Necesidad de buzzer de mayor voltaje (12V) para entornos ruidosos.</a:t>
            </a:r>
            <a:endParaRPr/>
          </a:p>
        </p:txBody>
      </p:sp>
      <p:sp>
        <p:nvSpPr>
          <p:cNvPr id="251" name="Google Shape;251;p24"/>
          <p:cNvSpPr txBox="1"/>
          <p:nvPr/>
        </p:nvSpPr>
        <p:spPr>
          <a:xfrm>
            <a:off x="6496050" y="3241268"/>
            <a:ext cx="857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2" name="Google Shape;252;p24"/>
          <p:cNvSpPr txBox="1"/>
          <p:nvPr/>
        </p:nvSpPr>
        <p:spPr>
          <a:xfrm>
            <a:off x="6581775" y="3242225"/>
            <a:ext cx="4743600" cy="3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ODS:</a:t>
            </a: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Herramienta viable para reducir el "temor al robo" en el campus.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Inter"/>
                <a:ea typeface="Inter"/>
                <a:cs typeface="Inter"/>
                <a:sym typeface="Inter"/>
              </a:rPr>
              <a:t>Pros</a:t>
            </a:r>
            <a:r>
              <a:rPr lang="en-US" sz="1200">
                <a:latin typeface="Inter"/>
                <a:ea typeface="Inter"/>
                <a:cs typeface="Inter"/>
                <a:sym typeface="Inter"/>
              </a:rPr>
              <a:t>: Facilidad de Instalación, 12,8 segundos promedio </a:t>
            </a:r>
            <a:r>
              <a:rPr lang="en-US" sz="1200">
                <a:latin typeface="Inter"/>
                <a:ea typeface="Inter"/>
                <a:cs typeface="Inter"/>
                <a:sym typeface="Inter"/>
              </a:rPr>
              <a:t>teóricos</a:t>
            </a:r>
            <a:r>
              <a:rPr lang="en-US" sz="1200">
                <a:latin typeface="Inter"/>
                <a:ea typeface="Inter"/>
                <a:cs typeface="Inter"/>
                <a:sym typeface="Inter"/>
              </a:rPr>
              <a:t>, buena interacción con el usuario al mandar un mensaje de inmediato para evitar robos.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Inter"/>
                <a:ea typeface="Inter"/>
                <a:cs typeface="Inter"/>
                <a:sym typeface="Inter"/>
              </a:rPr>
              <a:t>Contras</a:t>
            </a:r>
            <a:r>
              <a:rPr lang="en-US" sz="1200">
                <a:latin typeface="Inter"/>
                <a:ea typeface="Inter"/>
                <a:cs typeface="Inter"/>
                <a:sym typeface="Inter"/>
              </a:rPr>
              <a:t>: El sonido del buzzer es demasiado bajo para generar una alarma  el cual alerte al ambiente.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latin typeface="Inter"/>
                <a:ea typeface="Inter"/>
                <a:cs typeface="Inter"/>
                <a:sym typeface="Inter"/>
              </a:rPr>
            </a:b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3" name="Google Shape;253;p24"/>
          <p:cNvSpPr txBox="1"/>
          <p:nvPr/>
        </p:nvSpPr>
        <p:spPr>
          <a:xfrm>
            <a:off x="6463188" y="3789875"/>
            <a:ext cx="49806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8B1D1D"/>
                </a:solidFill>
                <a:latin typeface="Urbanist"/>
                <a:ea typeface="Urbanist"/>
                <a:cs typeface="Urbanist"/>
                <a:sym typeface="Urbanist"/>
              </a:rPr>
              <a:t>Conclusiones </a:t>
            </a:r>
            <a:r>
              <a:rPr b="1" lang="en-US" sz="1404">
                <a:solidFill>
                  <a:srgbClr val="8B1D1D"/>
                </a:solidFill>
                <a:latin typeface="Urbanist"/>
                <a:ea typeface="Urbanist"/>
                <a:cs typeface="Urbanist"/>
                <a:sym typeface="Urbanist"/>
              </a:rPr>
              <a:t>Usuarios Reales </a:t>
            </a:r>
            <a:endParaRPr/>
          </a:p>
        </p:txBody>
      </p:sp>
      <p:pic>
        <p:nvPicPr>
          <p:cNvPr descr="image.png" id="254" name="Google Shape;25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13112" y="3771900"/>
            <a:ext cx="333375" cy="381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5" name="Google Shape;255;p24"/>
          <p:cNvGraphicFramePr/>
          <p:nvPr/>
        </p:nvGraphicFramePr>
        <p:xfrm>
          <a:off x="245488" y="14822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{76FD8678-F1D8-481D-B815-E1043DAD4665}</a:tableStyleId>
              </a:tblPr>
              <a:tblGrid>
                <a:gridCol w="802175"/>
                <a:gridCol w="1138925"/>
                <a:gridCol w="1342100"/>
                <a:gridCol w="1347900"/>
                <a:gridCol w="1295625"/>
              </a:tblGrid>
              <a:tr h="541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Usuario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Satisfacción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Observaciones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Facilidad</a:t>
                      </a:r>
                      <a:r>
                        <a:rPr lang="en-US"/>
                        <a:t> (uso</a:t>
                      </a:r>
                      <a:r>
                        <a:rPr lang="en-US"/>
                        <a:t>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Percepción</a:t>
                      </a:r>
                      <a:r>
                        <a:rPr lang="en-US" sz="1100"/>
                        <a:t> de seguridad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658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User 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5/5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Bajo nivel sonoro del parlante al detectar una alerta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4/5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3/5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03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User 2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5/5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Frágil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4/5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5/5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03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User 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4/5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Mejorar </a:t>
                      </a:r>
                      <a:r>
                        <a:rPr lang="en-US" sz="1300"/>
                        <a:t>estética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5/5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4/5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03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User 4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3/5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Fragil al agua.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5/5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3/5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6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User 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5/5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No pasa </a:t>
                      </a:r>
                      <a:r>
                        <a:rPr lang="en-US" sz="1200"/>
                        <a:t>desapercibido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5/5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4/5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56" name="Google Shape;256;p24"/>
          <p:cNvSpPr txBox="1"/>
          <p:nvPr/>
        </p:nvSpPr>
        <p:spPr>
          <a:xfrm>
            <a:off x="140312" y="4694193"/>
            <a:ext cx="6137100" cy="19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destaca la facilidad del uso del producto, ya que la mayorías de los entrevistados nos comentaron la utilización de este es sencilla, otro punto a recalcar es la percepción del usuario a los robos de bicicletas debido a que no temen en dejar su bicicleta en lugares donde no haya vigilancia o cámaras de seguridad.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1" name="Google Shape;26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2391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 txBox="1"/>
          <p:nvPr/>
        </p:nvSpPr>
        <p:spPr>
          <a:xfrm>
            <a:off x="2832650" y="2288125"/>
            <a:ext cx="6315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Muchas Gracias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4814887" y="3119437"/>
            <a:ext cx="256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AAAAAA"/>
                </a:solidFill>
                <a:latin typeface="Inter"/>
                <a:ea typeface="Inter"/>
                <a:cs typeface="Inter"/>
                <a:sym typeface="Inter"/>
              </a:rPr>
              <a:t>Alguna duda?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3600450" y="4252912"/>
            <a:ext cx="4991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Universidad Adolfo Ibáñez | Facultad de Ingeniería y Ciencias</a:t>
            </a:r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3600450" y="4452937"/>
            <a:ext cx="4991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Taller de Diseño en Ingeniería (</a:t>
            </a:r>
            <a:r>
              <a:rPr lang="en-US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TEI 201</a:t>
            </a:r>
            <a:r>
              <a:rPr b="0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